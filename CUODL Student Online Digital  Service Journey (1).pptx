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0104100" cy="8299450"/>
  <p:notesSz cx="9866313" cy="67357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89"/>
    <p:restoredTop sz="94754"/>
  </p:normalViewPr>
  <p:slideViewPr>
    <p:cSldViewPr>
      <p:cViewPr varScale="1">
        <p:scale>
          <a:sx n="46" d="100"/>
          <a:sy n="46" d="100"/>
        </p:scale>
        <p:origin x="524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138" cy="338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88000" y="0"/>
            <a:ext cx="4276725" cy="338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41FA49-A349-4907-987D-4C531EAEF886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81225" y="841375"/>
            <a:ext cx="5505450" cy="2273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425" y="3241675"/>
            <a:ext cx="7893050" cy="26527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397625"/>
            <a:ext cx="4275138" cy="338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88000" y="6397625"/>
            <a:ext cx="4276725" cy="338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F4035F-A8F5-4F79-AFF5-CD1C2DDFB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199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F4035F-A8F5-4F79-AFF5-CD1C2DDFB93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484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2572829"/>
            <a:ext cx="17088486" cy="174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4647692"/>
            <a:ext cx="14072870" cy="20748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1908873"/>
            <a:ext cx="8745284" cy="54776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1908873"/>
            <a:ext cx="8745284" cy="54776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331978"/>
            <a:ext cx="18093690" cy="13279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1908873"/>
            <a:ext cx="18093690" cy="54776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7718488"/>
            <a:ext cx="6433312" cy="4149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7718488"/>
            <a:ext cx="4623943" cy="4149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7718488"/>
            <a:ext cx="4623943" cy="4149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76CD5382-9538-D0CD-4778-2543A9D98D44}"/>
              </a:ext>
            </a:extLst>
          </p:cNvPr>
          <p:cNvCxnSpPr>
            <a:cxnSpLocks/>
          </p:cNvCxnSpPr>
          <p:nvPr/>
        </p:nvCxnSpPr>
        <p:spPr>
          <a:xfrm>
            <a:off x="2355850" y="1949360"/>
            <a:ext cx="1" cy="6255317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bject 4"/>
          <p:cNvSpPr/>
          <p:nvPr/>
        </p:nvSpPr>
        <p:spPr>
          <a:xfrm>
            <a:off x="4273664" y="3487045"/>
            <a:ext cx="641985" cy="3002280"/>
          </a:xfrm>
          <a:custGeom>
            <a:avLst/>
            <a:gdLst/>
            <a:ahLst/>
            <a:cxnLst/>
            <a:rect l="l" t="t" r="r" b="b"/>
            <a:pathLst>
              <a:path w="641985" h="3002279">
                <a:moveTo>
                  <a:pt x="641400" y="2891002"/>
                </a:moveTo>
                <a:lnTo>
                  <a:pt x="641324" y="2881109"/>
                </a:lnTo>
                <a:lnTo>
                  <a:pt x="630796" y="2870581"/>
                </a:lnTo>
                <a:lnTo>
                  <a:pt x="530567" y="2770340"/>
                </a:lnTo>
                <a:lnTo>
                  <a:pt x="520750" y="2770340"/>
                </a:lnTo>
                <a:lnTo>
                  <a:pt x="508635" y="2782455"/>
                </a:lnTo>
                <a:lnTo>
                  <a:pt x="508635" y="2792285"/>
                </a:lnTo>
                <a:lnTo>
                  <a:pt x="586930" y="2870581"/>
                </a:lnTo>
                <a:lnTo>
                  <a:pt x="508038" y="2870581"/>
                </a:lnTo>
                <a:lnTo>
                  <a:pt x="462673" y="2864485"/>
                </a:lnTo>
                <a:lnTo>
                  <a:pt x="421906" y="2847289"/>
                </a:lnTo>
                <a:lnTo>
                  <a:pt x="387375" y="2820606"/>
                </a:lnTo>
                <a:lnTo>
                  <a:pt x="360692" y="2786062"/>
                </a:lnTo>
                <a:lnTo>
                  <a:pt x="343496" y="2745308"/>
                </a:lnTo>
                <a:lnTo>
                  <a:pt x="337400" y="2699943"/>
                </a:lnTo>
                <a:lnTo>
                  <a:pt x="337400" y="1621447"/>
                </a:lnTo>
                <a:lnTo>
                  <a:pt x="469734" y="1621447"/>
                </a:lnTo>
                <a:lnTo>
                  <a:pt x="478790" y="1619618"/>
                </a:lnTo>
                <a:lnTo>
                  <a:pt x="486194" y="1614627"/>
                </a:lnTo>
                <a:lnTo>
                  <a:pt x="491172" y="1607235"/>
                </a:lnTo>
                <a:lnTo>
                  <a:pt x="493001" y="1598168"/>
                </a:lnTo>
                <a:lnTo>
                  <a:pt x="493001" y="1303439"/>
                </a:lnTo>
                <a:lnTo>
                  <a:pt x="491172" y="1294384"/>
                </a:lnTo>
                <a:lnTo>
                  <a:pt x="486194" y="1286979"/>
                </a:lnTo>
                <a:lnTo>
                  <a:pt x="478790" y="1282001"/>
                </a:lnTo>
                <a:lnTo>
                  <a:pt x="469734" y="1280172"/>
                </a:lnTo>
                <a:lnTo>
                  <a:pt x="337400" y="1280172"/>
                </a:lnTo>
                <a:lnTo>
                  <a:pt x="337400" y="201663"/>
                </a:lnTo>
                <a:lnTo>
                  <a:pt x="332066" y="155422"/>
                </a:lnTo>
                <a:lnTo>
                  <a:pt x="316903" y="112979"/>
                </a:lnTo>
                <a:lnTo>
                  <a:pt x="293090" y="75539"/>
                </a:lnTo>
                <a:lnTo>
                  <a:pt x="261861" y="44310"/>
                </a:lnTo>
                <a:lnTo>
                  <a:pt x="224421" y="20497"/>
                </a:lnTo>
                <a:lnTo>
                  <a:pt x="181978" y="5334"/>
                </a:lnTo>
                <a:lnTo>
                  <a:pt x="135737" y="0"/>
                </a:lnTo>
                <a:lnTo>
                  <a:pt x="15519" y="0"/>
                </a:lnTo>
                <a:lnTo>
                  <a:pt x="6946" y="0"/>
                </a:lnTo>
                <a:lnTo>
                  <a:pt x="0" y="6946"/>
                </a:lnTo>
                <a:lnTo>
                  <a:pt x="0" y="24091"/>
                </a:lnTo>
                <a:lnTo>
                  <a:pt x="6946" y="31026"/>
                </a:lnTo>
                <a:lnTo>
                  <a:pt x="15519" y="31026"/>
                </a:lnTo>
                <a:lnTo>
                  <a:pt x="135737" y="31026"/>
                </a:lnTo>
                <a:lnTo>
                  <a:pt x="181102" y="37122"/>
                </a:lnTo>
                <a:lnTo>
                  <a:pt x="221856" y="54330"/>
                </a:lnTo>
                <a:lnTo>
                  <a:pt x="256387" y="81013"/>
                </a:lnTo>
                <a:lnTo>
                  <a:pt x="283070" y="115544"/>
                </a:lnTo>
                <a:lnTo>
                  <a:pt x="300278" y="156311"/>
                </a:lnTo>
                <a:lnTo>
                  <a:pt x="306374" y="201663"/>
                </a:lnTo>
                <a:lnTo>
                  <a:pt x="306374" y="1280172"/>
                </a:lnTo>
                <a:lnTo>
                  <a:pt x="174028" y="1280172"/>
                </a:lnTo>
                <a:lnTo>
                  <a:pt x="164973" y="1282001"/>
                </a:lnTo>
                <a:lnTo>
                  <a:pt x="157581" y="1286979"/>
                </a:lnTo>
                <a:lnTo>
                  <a:pt x="152590" y="1294384"/>
                </a:lnTo>
                <a:lnTo>
                  <a:pt x="150761" y="1303439"/>
                </a:lnTo>
                <a:lnTo>
                  <a:pt x="150761" y="1598168"/>
                </a:lnTo>
                <a:lnTo>
                  <a:pt x="152590" y="1607235"/>
                </a:lnTo>
                <a:lnTo>
                  <a:pt x="157581" y="1614627"/>
                </a:lnTo>
                <a:lnTo>
                  <a:pt x="164973" y="1619618"/>
                </a:lnTo>
                <a:lnTo>
                  <a:pt x="174028" y="1621447"/>
                </a:lnTo>
                <a:lnTo>
                  <a:pt x="306374" y="1621447"/>
                </a:lnTo>
                <a:lnTo>
                  <a:pt x="306374" y="2699943"/>
                </a:lnTo>
                <a:lnTo>
                  <a:pt x="311696" y="2746184"/>
                </a:lnTo>
                <a:lnTo>
                  <a:pt x="326872" y="2788628"/>
                </a:lnTo>
                <a:lnTo>
                  <a:pt x="350672" y="2826067"/>
                </a:lnTo>
                <a:lnTo>
                  <a:pt x="381901" y="2857296"/>
                </a:lnTo>
                <a:lnTo>
                  <a:pt x="419354" y="2881109"/>
                </a:lnTo>
                <a:lnTo>
                  <a:pt x="461797" y="2896273"/>
                </a:lnTo>
                <a:lnTo>
                  <a:pt x="508038" y="2901607"/>
                </a:lnTo>
                <a:lnTo>
                  <a:pt x="586917" y="2901607"/>
                </a:lnTo>
                <a:lnTo>
                  <a:pt x="508635" y="2979902"/>
                </a:lnTo>
                <a:lnTo>
                  <a:pt x="508635" y="2989719"/>
                </a:lnTo>
                <a:lnTo>
                  <a:pt x="520750" y="3001835"/>
                </a:lnTo>
                <a:lnTo>
                  <a:pt x="530567" y="3001835"/>
                </a:lnTo>
                <a:lnTo>
                  <a:pt x="630796" y="2901607"/>
                </a:lnTo>
                <a:lnTo>
                  <a:pt x="641400" y="2891002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</p:spPr>
        <p:txBody>
          <a:bodyPr wrap="square" lIns="0" tIns="0" rIns="0" bIns="0" rtlCol="0"/>
          <a:lstStyle/>
          <a:p>
            <a:endParaRPr sz="1400"/>
          </a:p>
        </p:txBody>
      </p: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170DFBC1-DAAD-2402-F320-EF8E034F4E31}"/>
              </a:ext>
            </a:extLst>
          </p:cNvPr>
          <p:cNvCxnSpPr>
            <a:cxnSpLocks/>
            <a:stCxn id="53" idx="3"/>
            <a:endCxn id="25" idx="0"/>
          </p:cNvCxnSpPr>
          <p:nvPr/>
        </p:nvCxnSpPr>
        <p:spPr>
          <a:xfrm flipH="1">
            <a:off x="5602064" y="1348104"/>
            <a:ext cx="936220" cy="1834899"/>
          </a:xfrm>
          <a:prstGeom prst="bentConnector4">
            <a:avLst>
              <a:gd name="adj1" fmla="val -8139"/>
              <a:gd name="adj2" fmla="val 60064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436D501-C283-C1C1-1C05-DDD2A0F5A690}"/>
              </a:ext>
            </a:extLst>
          </p:cNvPr>
          <p:cNvCxnSpPr>
            <a:cxnSpLocks/>
            <a:stCxn id="51" idx="3"/>
            <a:endCxn id="47" idx="1"/>
          </p:cNvCxnSpPr>
          <p:nvPr/>
        </p:nvCxnSpPr>
        <p:spPr>
          <a:xfrm flipV="1">
            <a:off x="2136185" y="3490239"/>
            <a:ext cx="429230" cy="1079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2E85222-112D-AE93-761F-32CC4EDC73E9}"/>
              </a:ext>
            </a:extLst>
          </p:cNvPr>
          <p:cNvCxnSpPr>
            <a:cxnSpLocks/>
            <a:stCxn id="54" idx="3"/>
            <a:endCxn id="56" idx="1"/>
          </p:cNvCxnSpPr>
          <p:nvPr/>
        </p:nvCxnSpPr>
        <p:spPr>
          <a:xfrm>
            <a:off x="6483746" y="6387318"/>
            <a:ext cx="309735" cy="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3C85A22C-3622-1AD8-82BC-4D7DEA00DDBC}"/>
              </a:ext>
            </a:extLst>
          </p:cNvPr>
          <p:cNvSpPr txBox="1"/>
          <p:nvPr/>
        </p:nvSpPr>
        <p:spPr>
          <a:xfrm>
            <a:off x="4286047" y="41145"/>
            <a:ext cx="4489251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i="1" dirty="0">
                <a:effectLst/>
              </a:rPr>
              <a:t>Telephony will be needed for call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i="1" dirty="0">
                <a:effectLst/>
              </a:rPr>
              <a:t>﻿﻿For WhatsApp, business an integration will be done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i="1" dirty="0">
                <a:effectLst/>
              </a:rPr>
              <a:t>Email and SMS service provider will be needed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81D8E31-7FF3-6343-3A45-9D382E32E470}"/>
              </a:ext>
            </a:extLst>
          </p:cNvPr>
          <p:cNvSpPr/>
          <p:nvPr/>
        </p:nvSpPr>
        <p:spPr>
          <a:xfrm>
            <a:off x="290835" y="95566"/>
            <a:ext cx="3571539" cy="4625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Candidate’s Journey</a:t>
            </a: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89A10611-F71C-A7CF-D6E7-73C4F9BC6CB5}"/>
              </a:ext>
            </a:extLst>
          </p:cNvPr>
          <p:cNvSpPr/>
          <p:nvPr/>
        </p:nvSpPr>
        <p:spPr>
          <a:xfrm rot="10800000" flipH="1">
            <a:off x="4304533" y="1338620"/>
            <a:ext cx="661009" cy="2162383"/>
          </a:xfrm>
          <a:custGeom>
            <a:avLst/>
            <a:gdLst/>
            <a:ahLst/>
            <a:cxnLst/>
            <a:rect l="l" t="t" r="r" b="b"/>
            <a:pathLst>
              <a:path w="641985" h="3002279">
                <a:moveTo>
                  <a:pt x="641400" y="2891002"/>
                </a:moveTo>
                <a:lnTo>
                  <a:pt x="641324" y="2881109"/>
                </a:lnTo>
                <a:lnTo>
                  <a:pt x="630796" y="2870581"/>
                </a:lnTo>
                <a:lnTo>
                  <a:pt x="530567" y="2770340"/>
                </a:lnTo>
                <a:lnTo>
                  <a:pt x="520750" y="2770340"/>
                </a:lnTo>
                <a:lnTo>
                  <a:pt x="508635" y="2782455"/>
                </a:lnTo>
                <a:lnTo>
                  <a:pt x="508635" y="2792285"/>
                </a:lnTo>
                <a:lnTo>
                  <a:pt x="586930" y="2870581"/>
                </a:lnTo>
                <a:lnTo>
                  <a:pt x="508038" y="2870581"/>
                </a:lnTo>
                <a:lnTo>
                  <a:pt x="462673" y="2864485"/>
                </a:lnTo>
                <a:lnTo>
                  <a:pt x="421906" y="2847289"/>
                </a:lnTo>
                <a:lnTo>
                  <a:pt x="387375" y="2820606"/>
                </a:lnTo>
                <a:lnTo>
                  <a:pt x="360692" y="2786062"/>
                </a:lnTo>
                <a:lnTo>
                  <a:pt x="343496" y="2745308"/>
                </a:lnTo>
                <a:lnTo>
                  <a:pt x="337400" y="2699943"/>
                </a:lnTo>
                <a:lnTo>
                  <a:pt x="337400" y="1621447"/>
                </a:lnTo>
                <a:lnTo>
                  <a:pt x="469734" y="1621447"/>
                </a:lnTo>
                <a:lnTo>
                  <a:pt x="478790" y="1619618"/>
                </a:lnTo>
                <a:lnTo>
                  <a:pt x="486194" y="1614627"/>
                </a:lnTo>
                <a:lnTo>
                  <a:pt x="491172" y="1607235"/>
                </a:lnTo>
                <a:lnTo>
                  <a:pt x="493001" y="1598168"/>
                </a:lnTo>
                <a:lnTo>
                  <a:pt x="493001" y="1303439"/>
                </a:lnTo>
                <a:lnTo>
                  <a:pt x="491172" y="1294384"/>
                </a:lnTo>
                <a:lnTo>
                  <a:pt x="486194" y="1286979"/>
                </a:lnTo>
                <a:lnTo>
                  <a:pt x="478790" y="1282001"/>
                </a:lnTo>
                <a:lnTo>
                  <a:pt x="469734" y="1280172"/>
                </a:lnTo>
                <a:lnTo>
                  <a:pt x="337400" y="1280172"/>
                </a:lnTo>
                <a:lnTo>
                  <a:pt x="337400" y="201663"/>
                </a:lnTo>
                <a:lnTo>
                  <a:pt x="332066" y="155422"/>
                </a:lnTo>
                <a:lnTo>
                  <a:pt x="316903" y="112979"/>
                </a:lnTo>
                <a:lnTo>
                  <a:pt x="293090" y="75539"/>
                </a:lnTo>
                <a:lnTo>
                  <a:pt x="261861" y="44310"/>
                </a:lnTo>
                <a:lnTo>
                  <a:pt x="224421" y="20497"/>
                </a:lnTo>
                <a:lnTo>
                  <a:pt x="181978" y="5334"/>
                </a:lnTo>
                <a:lnTo>
                  <a:pt x="135737" y="0"/>
                </a:lnTo>
                <a:lnTo>
                  <a:pt x="15519" y="0"/>
                </a:lnTo>
                <a:lnTo>
                  <a:pt x="6946" y="0"/>
                </a:lnTo>
                <a:lnTo>
                  <a:pt x="0" y="6946"/>
                </a:lnTo>
                <a:lnTo>
                  <a:pt x="0" y="24091"/>
                </a:lnTo>
                <a:lnTo>
                  <a:pt x="6946" y="31026"/>
                </a:lnTo>
                <a:lnTo>
                  <a:pt x="15519" y="31026"/>
                </a:lnTo>
                <a:lnTo>
                  <a:pt x="135737" y="31026"/>
                </a:lnTo>
                <a:lnTo>
                  <a:pt x="181102" y="37122"/>
                </a:lnTo>
                <a:lnTo>
                  <a:pt x="221856" y="54330"/>
                </a:lnTo>
                <a:lnTo>
                  <a:pt x="256387" y="81013"/>
                </a:lnTo>
                <a:lnTo>
                  <a:pt x="283070" y="115544"/>
                </a:lnTo>
                <a:lnTo>
                  <a:pt x="300278" y="156311"/>
                </a:lnTo>
                <a:lnTo>
                  <a:pt x="306374" y="201663"/>
                </a:lnTo>
                <a:lnTo>
                  <a:pt x="306374" y="1280172"/>
                </a:lnTo>
                <a:lnTo>
                  <a:pt x="174028" y="1280172"/>
                </a:lnTo>
                <a:lnTo>
                  <a:pt x="164973" y="1282001"/>
                </a:lnTo>
                <a:lnTo>
                  <a:pt x="157581" y="1286979"/>
                </a:lnTo>
                <a:lnTo>
                  <a:pt x="152590" y="1294384"/>
                </a:lnTo>
                <a:lnTo>
                  <a:pt x="150761" y="1303439"/>
                </a:lnTo>
                <a:lnTo>
                  <a:pt x="150761" y="1598168"/>
                </a:lnTo>
                <a:lnTo>
                  <a:pt x="152590" y="1607235"/>
                </a:lnTo>
                <a:lnTo>
                  <a:pt x="157581" y="1614627"/>
                </a:lnTo>
                <a:lnTo>
                  <a:pt x="164973" y="1619618"/>
                </a:lnTo>
                <a:lnTo>
                  <a:pt x="174028" y="1621447"/>
                </a:lnTo>
                <a:lnTo>
                  <a:pt x="306374" y="1621447"/>
                </a:lnTo>
                <a:lnTo>
                  <a:pt x="306374" y="2699943"/>
                </a:lnTo>
                <a:lnTo>
                  <a:pt x="311696" y="2746184"/>
                </a:lnTo>
                <a:lnTo>
                  <a:pt x="326872" y="2788628"/>
                </a:lnTo>
                <a:lnTo>
                  <a:pt x="350672" y="2826067"/>
                </a:lnTo>
                <a:lnTo>
                  <a:pt x="381901" y="2857296"/>
                </a:lnTo>
                <a:lnTo>
                  <a:pt x="419354" y="2881109"/>
                </a:lnTo>
                <a:lnTo>
                  <a:pt x="461797" y="2896273"/>
                </a:lnTo>
                <a:lnTo>
                  <a:pt x="508038" y="2901607"/>
                </a:lnTo>
                <a:lnTo>
                  <a:pt x="586917" y="2901607"/>
                </a:lnTo>
                <a:lnTo>
                  <a:pt x="508635" y="2979902"/>
                </a:lnTo>
                <a:lnTo>
                  <a:pt x="508635" y="2989719"/>
                </a:lnTo>
                <a:lnTo>
                  <a:pt x="520750" y="3001835"/>
                </a:lnTo>
                <a:lnTo>
                  <a:pt x="530567" y="3001835"/>
                </a:lnTo>
                <a:lnTo>
                  <a:pt x="630796" y="2901607"/>
                </a:lnTo>
                <a:lnTo>
                  <a:pt x="641400" y="2891002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</p:spPr>
        <p:txBody>
          <a:bodyPr wrap="square" lIns="0" tIns="0" rIns="0" bIns="0" rtlCol="0"/>
          <a:lstStyle/>
          <a:p>
            <a:endParaRPr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F90AA1-406B-372E-8275-1ED6A4ECCF97}"/>
              </a:ext>
            </a:extLst>
          </p:cNvPr>
          <p:cNvSpPr txBox="1"/>
          <p:nvPr/>
        </p:nvSpPr>
        <p:spPr>
          <a:xfrm>
            <a:off x="4400787" y="2308657"/>
            <a:ext cx="57801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b="1" dirty="0"/>
              <a:t>Yes</a:t>
            </a:r>
          </a:p>
        </p:txBody>
      </p:sp>
      <p:sp>
        <p:nvSpPr>
          <p:cNvPr id="47" name="Decision 46">
            <a:extLst>
              <a:ext uri="{FF2B5EF4-FFF2-40B4-BE49-F238E27FC236}">
                <a16:creationId xmlns:a16="http://schemas.microsoft.com/office/drawing/2014/main" id="{6260CFE4-6B01-37BF-7581-B8F8858E2A5B}"/>
              </a:ext>
            </a:extLst>
          </p:cNvPr>
          <p:cNvSpPr/>
          <p:nvPr/>
        </p:nvSpPr>
        <p:spPr>
          <a:xfrm>
            <a:off x="2565415" y="2706567"/>
            <a:ext cx="1851483" cy="1567343"/>
          </a:xfrm>
          <a:prstGeom prst="flowChartDecisio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Is the student already registered ?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DEA191E-54F6-9A4D-942C-BD829B550E67}"/>
              </a:ext>
            </a:extLst>
          </p:cNvPr>
          <p:cNvSpPr txBox="1"/>
          <p:nvPr/>
        </p:nvSpPr>
        <p:spPr>
          <a:xfrm>
            <a:off x="111977" y="2502077"/>
            <a:ext cx="2024208" cy="199791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non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/>
              <a:t>Landing page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/>
              <a:t>Website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/>
              <a:t>Social Media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/>
              <a:t>Search Campaigns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/>
              <a:t>Widgets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/>
              <a:t>Marketing Associates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C3AA7A-3C54-2AFC-5AFA-DCCB8E8BC087}"/>
              </a:ext>
            </a:extLst>
          </p:cNvPr>
          <p:cNvSpPr txBox="1"/>
          <p:nvPr/>
        </p:nvSpPr>
        <p:spPr>
          <a:xfrm>
            <a:off x="4956115" y="978772"/>
            <a:ext cx="1582169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Option to login using password or through OTP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5E4D842-F67B-17EF-5978-8289C7CD82C3}"/>
              </a:ext>
            </a:extLst>
          </p:cNvPr>
          <p:cNvSpPr txBox="1"/>
          <p:nvPr/>
        </p:nvSpPr>
        <p:spPr>
          <a:xfrm>
            <a:off x="4901577" y="6125708"/>
            <a:ext cx="158216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Fill the Registration / Enquiry form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081BDB4-A48B-68DB-DABA-3ECADBBDA2E7}"/>
              </a:ext>
            </a:extLst>
          </p:cNvPr>
          <p:cNvSpPr txBox="1"/>
          <p:nvPr/>
        </p:nvSpPr>
        <p:spPr>
          <a:xfrm>
            <a:off x="8766913" y="2095616"/>
            <a:ext cx="2284671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Student fills the application form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0B2BD9-C1AC-B134-7F8A-4C09E40C5B82}"/>
              </a:ext>
            </a:extLst>
          </p:cNvPr>
          <p:cNvSpPr txBox="1"/>
          <p:nvPr/>
        </p:nvSpPr>
        <p:spPr>
          <a:xfrm>
            <a:off x="4337050" y="4740752"/>
            <a:ext cx="488717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b="1" dirty="0"/>
              <a:t>No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085D82E-4810-001C-26BE-88D75FAF7166}"/>
              </a:ext>
            </a:extLst>
          </p:cNvPr>
          <p:cNvSpPr txBox="1"/>
          <p:nvPr/>
        </p:nvSpPr>
        <p:spPr>
          <a:xfrm>
            <a:off x="6793481" y="6125708"/>
            <a:ext cx="158216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OTP and Email Verification is sent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F26293F-6F2C-FC68-A50C-07C0E673A528}"/>
              </a:ext>
            </a:extLst>
          </p:cNvPr>
          <p:cNvSpPr txBox="1"/>
          <p:nvPr/>
        </p:nvSpPr>
        <p:spPr>
          <a:xfrm>
            <a:off x="9252796" y="41145"/>
            <a:ext cx="5218853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i="1" dirty="0">
                <a:effectLst/>
              </a:rPr>
              <a:t>All the applications which are submitted will be moved to ERP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i="1" dirty="0">
                <a:effectLst/>
              </a:rPr>
              <a:t>﻿﻿ERP will be sending Log-in credentials via mail at this stage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i="1" dirty="0">
                <a:effectLst/>
              </a:rPr>
              <a:t>﻿﻿Application fee is Zero in first year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8921603-4149-C1AB-E78A-767C994AF397}"/>
              </a:ext>
            </a:extLst>
          </p:cNvPr>
          <p:cNvSpPr txBox="1"/>
          <p:nvPr/>
        </p:nvSpPr>
        <p:spPr>
          <a:xfrm>
            <a:off x="6657950" y="3190439"/>
            <a:ext cx="1853466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Calling and lead nurturing process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D0527B9-65E4-746C-A574-67561369EC7E}"/>
              </a:ext>
            </a:extLst>
          </p:cNvPr>
          <p:cNvSpPr txBox="1"/>
          <p:nvPr/>
        </p:nvSpPr>
        <p:spPr>
          <a:xfrm>
            <a:off x="14090650" y="1915799"/>
            <a:ext cx="2993620" cy="602218"/>
          </a:xfrm>
          <a:prstGeom prst="snip2Same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dirty="0"/>
              <a:t> Welcome Letter and LMS Credentials to be auto triggered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81C4127-BB14-DE87-FC18-566C2383F2B8}"/>
              </a:ext>
            </a:extLst>
          </p:cNvPr>
          <p:cNvSpPr txBox="1"/>
          <p:nvPr/>
        </p:nvSpPr>
        <p:spPr>
          <a:xfrm>
            <a:off x="11431124" y="4257271"/>
            <a:ext cx="2787383" cy="95410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Requesting for valid Document submission via Notification on Students Application Dashboard &amp; Email/ call/ WhatsApp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D345745-39CC-FA4B-51F7-99124CD4946E}"/>
              </a:ext>
            </a:extLst>
          </p:cNvPr>
          <p:cNvSpPr txBox="1"/>
          <p:nvPr/>
        </p:nvSpPr>
        <p:spPr>
          <a:xfrm>
            <a:off x="12017281" y="5499775"/>
            <a:ext cx="1539969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Send Reminders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157AFD2-CFB2-977D-666A-351EBFB063B5}"/>
              </a:ext>
            </a:extLst>
          </p:cNvPr>
          <p:cNvSpPr txBox="1"/>
          <p:nvPr/>
        </p:nvSpPr>
        <p:spPr>
          <a:xfrm>
            <a:off x="14973668" y="34925"/>
            <a:ext cx="4839597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i="1" dirty="0"/>
              <a:t>Payment for remaining semesters will be paid in ERP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i="1" dirty="0">
                <a:effectLst/>
              </a:rPr>
              <a:t>Candidate can raise refund in ERP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i="1" dirty="0"/>
              <a:t>Ticketing based system, Academic Counsellors and Chat Bot</a:t>
            </a:r>
            <a:endParaRPr lang="en-IN" sz="1400" i="1" dirty="0">
              <a:effectLst/>
            </a:endParaRP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0005F5AC-2E56-6E26-E2BF-7A69131507E2}"/>
              </a:ext>
            </a:extLst>
          </p:cNvPr>
          <p:cNvCxnSpPr>
            <a:cxnSpLocks/>
          </p:cNvCxnSpPr>
          <p:nvPr/>
        </p:nvCxnSpPr>
        <p:spPr>
          <a:xfrm>
            <a:off x="11271250" y="837168"/>
            <a:ext cx="0" cy="736750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EF2FF37A-C995-C8BC-4598-3F08D81FAB6F}"/>
              </a:ext>
            </a:extLst>
          </p:cNvPr>
          <p:cNvCxnSpPr>
            <a:cxnSpLocks/>
          </p:cNvCxnSpPr>
          <p:nvPr/>
        </p:nvCxnSpPr>
        <p:spPr>
          <a:xfrm>
            <a:off x="17522298" y="872529"/>
            <a:ext cx="0" cy="743374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1720B6B9-62A5-C918-CD6F-F220CEB289DD}"/>
              </a:ext>
            </a:extLst>
          </p:cNvPr>
          <p:cNvCxnSpPr>
            <a:cxnSpLocks/>
          </p:cNvCxnSpPr>
          <p:nvPr/>
        </p:nvCxnSpPr>
        <p:spPr>
          <a:xfrm flipH="1">
            <a:off x="41059" y="7102952"/>
            <a:ext cx="2006304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27FD8551-85E3-D895-6979-3D86EEB28585}"/>
              </a:ext>
            </a:extLst>
          </p:cNvPr>
          <p:cNvSpPr txBox="1"/>
          <p:nvPr/>
        </p:nvSpPr>
        <p:spPr>
          <a:xfrm>
            <a:off x="710600" y="7151910"/>
            <a:ext cx="877548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1600" b="1" dirty="0"/>
              <a:t>Website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D93930B-30E5-20D1-6865-7CE0D29AD019}"/>
              </a:ext>
            </a:extLst>
          </p:cNvPr>
          <p:cNvSpPr txBox="1"/>
          <p:nvPr/>
        </p:nvSpPr>
        <p:spPr>
          <a:xfrm>
            <a:off x="4601987" y="7141951"/>
            <a:ext cx="3103478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1600" b="1" dirty="0"/>
              <a:t>Lead Management System / CRM  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3571BD3B-5FFC-6794-D188-4E82EC76F3D5}"/>
              </a:ext>
            </a:extLst>
          </p:cNvPr>
          <p:cNvSpPr txBox="1"/>
          <p:nvPr/>
        </p:nvSpPr>
        <p:spPr>
          <a:xfrm>
            <a:off x="13796163" y="7139749"/>
            <a:ext cx="554960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1600" b="1" dirty="0"/>
              <a:t>ERP 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16F58470-D0B3-F198-3993-16B4CE223FF3}"/>
              </a:ext>
            </a:extLst>
          </p:cNvPr>
          <p:cNvCxnSpPr>
            <a:cxnSpLocks/>
          </p:cNvCxnSpPr>
          <p:nvPr/>
        </p:nvCxnSpPr>
        <p:spPr>
          <a:xfrm flipH="1">
            <a:off x="89589" y="7483952"/>
            <a:ext cx="200145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33A98AB2-B595-C61D-4520-804A12EADC71}"/>
              </a:ext>
            </a:extLst>
          </p:cNvPr>
          <p:cNvSpPr txBox="1"/>
          <p:nvPr/>
        </p:nvSpPr>
        <p:spPr>
          <a:xfrm>
            <a:off x="2997484" y="7602598"/>
            <a:ext cx="1861407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1600" b="1" dirty="0"/>
              <a:t>Bulk SMS and Email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4370DD7-E76E-6F0F-ED5B-E32BD9817FAD}"/>
              </a:ext>
            </a:extLst>
          </p:cNvPr>
          <p:cNvSpPr txBox="1"/>
          <p:nvPr/>
        </p:nvSpPr>
        <p:spPr>
          <a:xfrm>
            <a:off x="5123512" y="7593759"/>
            <a:ext cx="1875513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1600" b="1" dirty="0"/>
              <a:t>Telephony Software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E9BE0A40-1469-7A42-AD0B-42B0265C9088}"/>
              </a:ext>
            </a:extLst>
          </p:cNvPr>
          <p:cNvSpPr txBox="1"/>
          <p:nvPr/>
        </p:nvSpPr>
        <p:spPr>
          <a:xfrm>
            <a:off x="7240299" y="7573053"/>
            <a:ext cx="1724959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1600" b="1" dirty="0"/>
              <a:t>Payment Gateway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1948B848-DA6A-A891-04DC-A11CE4D89518}"/>
              </a:ext>
            </a:extLst>
          </p:cNvPr>
          <p:cNvSpPr txBox="1"/>
          <p:nvPr/>
        </p:nvSpPr>
        <p:spPr>
          <a:xfrm>
            <a:off x="11531148" y="7723292"/>
            <a:ext cx="1861407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1600" b="1" dirty="0"/>
              <a:t>Bulk SMS and Email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8910355F-1A96-6A3A-EB04-F10C194DAF50}"/>
              </a:ext>
            </a:extLst>
          </p:cNvPr>
          <p:cNvSpPr txBox="1"/>
          <p:nvPr/>
        </p:nvSpPr>
        <p:spPr>
          <a:xfrm>
            <a:off x="13657176" y="7714453"/>
            <a:ext cx="1875513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1600" b="1" dirty="0"/>
              <a:t>Telephony Software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7AD6451-5D49-1429-8874-7F1CA6AFF8A1}"/>
              </a:ext>
            </a:extLst>
          </p:cNvPr>
          <p:cNvSpPr txBox="1"/>
          <p:nvPr/>
        </p:nvSpPr>
        <p:spPr>
          <a:xfrm>
            <a:off x="15773963" y="7693747"/>
            <a:ext cx="1724959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1600" b="1" dirty="0"/>
              <a:t>Payment Gateway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2608070A-3DE6-0E6B-00EA-0EF51826F8E4}"/>
              </a:ext>
            </a:extLst>
          </p:cNvPr>
          <p:cNvSpPr txBox="1"/>
          <p:nvPr/>
        </p:nvSpPr>
        <p:spPr>
          <a:xfrm>
            <a:off x="18328563" y="7151443"/>
            <a:ext cx="595035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1600" b="1" dirty="0"/>
              <a:t>LMS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DFA334A-E568-57F1-1D3D-B684C22E4624}"/>
              </a:ext>
            </a:extLst>
          </p:cNvPr>
          <p:cNvSpPr txBox="1">
            <a:spLocks/>
          </p:cNvSpPr>
          <p:nvPr/>
        </p:nvSpPr>
        <p:spPr>
          <a:xfrm>
            <a:off x="167787" y="779809"/>
            <a:ext cx="3909463" cy="116955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i="1" dirty="0">
                <a:effectLst/>
              </a:rPr>
              <a:t>Widget can be OTP based. All the transnational and promotional communication need to be approved by DLT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i="1" dirty="0">
                <a:effectLst/>
              </a:rPr>
              <a:t>Publishers will have their dashboard to check performance of their leads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E18437A8-EDD0-CF94-57D0-4739393D075F}"/>
              </a:ext>
            </a:extLst>
          </p:cNvPr>
          <p:cNvSpPr txBox="1"/>
          <p:nvPr/>
        </p:nvSpPr>
        <p:spPr>
          <a:xfrm>
            <a:off x="15003058" y="3902552"/>
            <a:ext cx="2086128" cy="55399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dirty="0"/>
              <a:t>Register for next sem. &amp; Pay full Semester fee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49E159-0CF8-5EA2-59C8-B8327AC151F9}"/>
              </a:ext>
            </a:extLst>
          </p:cNvPr>
          <p:cNvSpPr txBox="1"/>
          <p:nvPr/>
        </p:nvSpPr>
        <p:spPr>
          <a:xfrm>
            <a:off x="4675331" y="3183003"/>
            <a:ext cx="1853466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Lead is assigned to a counsellor</a:t>
            </a:r>
          </a:p>
        </p:txBody>
      </p: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9E526A39-1DD1-161E-C2F4-4A0A30A34DB7}"/>
              </a:ext>
            </a:extLst>
          </p:cNvPr>
          <p:cNvCxnSpPr>
            <a:cxnSpLocks/>
            <a:stCxn id="56" idx="0"/>
            <a:endCxn id="25" idx="2"/>
          </p:cNvCxnSpPr>
          <p:nvPr/>
        </p:nvCxnSpPr>
        <p:spPr>
          <a:xfrm rot="16200000" flipV="1">
            <a:off x="5383573" y="3924715"/>
            <a:ext cx="2419485" cy="1982502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1D2C9BF-45ED-6CA9-93D9-7DB63BD03C78}"/>
              </a:ext>
            </a:extLst>
          </p:cNvPr>
          <p:cNvSpPr txBox="1"/>
          <p:nvPr/>
        </p:nvSpPr>
        <p:spPr>
          <a:xfrm>
            <a:off x="8756271" y="4942190"/>
            <a:ext cx="2284671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Students pay the admission fee/ First Semester Fee (FSF)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B74B0B34-735B-E944-F3BB-411ECFC3D1F8}"/>
              </a:ext>
            </a:extLst>
          </p:cNvPr>
          <p:cNvCxnSpPr>
            <a:cxnSpLocks/>
            <a:stCxn id="57" idx="3"/>
            <a:endCxn id="80" idx="1"/>
          </p:cNvCxnSpPr>
          <p:nvPr/>
        </p:nvCxnSpPr>
        <p:spPr>
          <a:xfrm flipV="1">
            <a:off x="8511416" y="2357226"/>
            <a:ext cx="255497" cy="1094823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C503BA7-868E-BEC3-B545-73F9C701B548}"/>
              </a:ext>
            </a:extLst>
          </p:cNvPr>
          <p:cNvCxnSpPr>
            <a:cxnSpLocks/>
            <a:stCxn id="80" idx="2"/>
            <a:endCxn id="34" idx="0"/>
          </p:cNvCxnSpPr>
          <p:nvPr/>
        </p:nvCxnSpPr>
        <p:spPr>
          <a:xfrm flipH="1">
            <a:off x="9901639" y="2618836"/>
            <a:ext cx="7610" cy="472235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DBE5F91-3AC3-2973-113B-257FBAB7E1FF}"/>
              </a:ext>
            </a:extLst>
          </p:cNvPr>
          <p:cNvCxnSpPr>
            <a:cxnSpLocks/>
            <a:stCxn id="34" idx="2"/>
            <a:endCxn id="58" idx="0"/>
          </p:cNvCxnSpPr>
          <p:nvPr/>
        </p:nvCxnSpPr>
        <p:spPr>
          <a:xfrm>
            <a:off x="9901639" y="3614291"/>
            <a:ext cx="7609" cy="450841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CFEAA52-418B-4024-3146-42CADFF5442C}"/>
              </a:ext>
            </a:extLst>
          </p:cNvPr>
          <p:cNvSpPr txBox="1"/>
          <p:nvPr/>
        </p:nvSpPr>
        <p:spPr>
          <a:xfrm>
            <a:off x="8766912" y="4065132"/>
            <a:ext cx="2284671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Document verification by Ops Team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1A9B9B8-9F25-CD8A-D350-DCB1E62983DE}"/>
              </a:ext>
            </a:extLst>
          </p:cNvPr>
          <p:cNvCxnSpPr>
            <a:cxnSpLocks/>
            <a:stCxn id="58" idx="2"/>
            <a:endCxn id="35" idx="0"/>
          </p:cNvCxnSpPr>
          <p:nvPr/>
        </p:nvCxnSpPr>
        <p:spPr>
          <a:xfrm flipH="1">
            <a:off x="9898607" y="4588352"/>
            <a:ext cx="10641" cy="35383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98292E1E-F6B9-7C91-B126-6E1C389EA9BE}"/>
              </a:ext>
            </a:extLst>
          </p:cNvPr>
          <p:cNvSpPr txBox="1"/>
          <p:nvPr/>
        </p:nvSpPr>
        <p:spPr>
          <a:xfrm>
            <a:off x="17766648" y="1801140"/>
            <a:ext cx="1922734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ONBOARDING</a:t>
            </a:r>
          </a:p>
          <a:p>
            <a:r>
              <a:rPr lang="en-GB" sz="1400" dirty="0"/>
              <a:t>(Student enters the ERP and LMS Portal)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03C333A-977A-AD46-CB15-757DFFFA957B}"/>
              </a:ext>
            </a:extLst>
          </p:cNvPr>
          <p:cNvSpPr txBox="1"/>
          <p:nvPr/>
        </p:nvSpPr>
        <p:spPr>
          <a:xfrm>
            <a:off x="17767964" y="2841333"/>
            <a:ext cx="1922734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Attend the Online class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ABE866E0-259D-DDF0-3DF9-324ADB3FBD48}"/>
              </a:ext>
            </a:extLst>
          </p:cNvPr>
          <p:cNvSpPr txBox="1"/>
          <p:nvPr/>
        </p:nvSpPr>
        <p:spPr>
          <a:xfrm>
            <a:off x="17769265" y="3626625"/>
            <a:ext cx="1922734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Complete course work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D411E75-F903-E153-04EE-BBD23CB23BF7}"/>
              </a:ext>
            </a:extLst>
          </p:cNvPr>
          <p:cNvSpPr txBox="1"/>
          <p:nvPr/>
        </p:nvSpPr>
        <p:spPr>
          <a:xfrm>
            <a:off x="17766648" y="4446225"/>
            <a:ext cx="1922734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Online Proctored Examination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523504C6-804D-22CA-3AE7-92013FEC1D49}"/>
              </a:ext>
            </a:extLst>
          </p:cNvPr>
          <p:cNvSpPr txBox="1"/>
          <p:nvPr/>
        </p:nvSpPr>
        <p:spPr>
          <a:xfrm>
            <a:off x="17766648" y="5262325"/>
            <a:ext cx="1922734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Successfully completes the semester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3AAB11EE-DB04-ECB7-40B9-A6B665A3AA17}"/>
              </a:ext>
            </a:extLst>
          </p:cNvPr>
          <p:cNvCxnSpPr>
            <a:cxnSpLocks/>
            <a:stCxn id="132" idx="2"/>
            <a:endCxn id="133" idx="0"/>
          </p:cNvCxnSpPr>
          <p:nvPr/>
        </p:nvCxnSpPr>
        <p:spPr>
          <a:xfrm>
            <a:off x="18729331" y="3149110"/>
            <a:ext cx="1301" cy="477515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C17BAECC-E90F-C0BA-6E2E-3401193C69F8}"/>
              </a:ext>
            </a:extLst>
          </p:cNvPr>
          <p:cNvCxnSpPr>
            <a:cxnSpLocks/>
            <a:stCxn id="133" idx="2"/>
            <a:endCxn id="135" idx="0"/>
          </p:cNvCxnSpPr>
          <p:nvPr/>
        </p:nvCxnSpPr>
        <p:spPr>
          <a:xfrm flipH="1">
            <a:off x="18728015" y="3934402"/>
            <a:ext cx="2617" cy="511823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BF8CEB5C-059C-B7EE-92CA-FD5DC4D7A76E}"/>
              </a:ext>
            </a:extLst>
          </p:cNvPr>
          <p:cNvCxnSpPr>
            <a:cxnSpLocks/>
            <a:stCxn id="135" idx="2"/>
            <a:endCxn id="136" idx="0"/>
          </p:cNvCxnSpPr>
          <p:nvPr/>
        </p:nvCxnSpPr>
        <p:spPr>
          <a:xfrm>
            <a:off x="18728015" y="4969445"/>
            <a:ext cx="0" cy="29288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74CBF9E0-D6B4-EE65-6B55-C5B2AF6A9690}"/>
              </a:ext>
            </a:extLst>
          </p:cNvPr>
          <p:cNvCxnSpPr>
            <a:cxnSpLocks/>
            <a:stCxn id="136" idx="1"/>
            <a:endCxn id="173" idx="3"/>
          </p:cNvCxnSpPr>
          <p:nvPr/>
        </p:nvCxnSpPr>
        <p:spPr>
          <a:xfrm rot="10800000">
            <a:off x="17089186" y="4179551"/>
            <a:ext cx="677462" cy="1344384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A5782698-8904-55E0-2CB7-943240C5900D}"/>
              </a:ext>
            </a:extLst>
          </p:cNvPr>
          <p:cNvSpPr txBox="1"/>
          <p:nvPr/>
        </p:nvSpPr>
        <p:spPr>
          <a:xfrm>
            <a:off x="17762370" y="6130925"/>
            <a:ext cx="1922734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Successfully completes the Program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AFC5E53-6AC3-1A83-5B36-BE049758E074}"/>
              </a:ext>
            </a:extLst>
          </p:cNvPr>
          <p:cNvSpPr txBox="1"/>
          <p:nvPr/>
        </p:nvSpPr>
        <p:spPr>
          <a:xfrm>
            <a:off x="15751081" y="4630261"/>
            <a:ext cx="1539969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Degree certificate  will be sent via Email</a:t>
            </a:r>
          </a:p>
        </p:txBody>
      </p:sp>
      <p:cxnSp>
        <p:nvCxnSpPr>
          <p:cNvPr id="164" name="Elbow Connector 163">
            <a:extLst>
              <a:ext uri="{FF2B5EF4-FFF2-40B4-BE49-F238E27FC236}">
                <a16:creationId xmlns:a16="http://schemas.microsoft.com/office/drawing/2014/main" id="{544E62A7-4A7F-BCF6-296C-A863CBBAC452}"/>
              </a:ext>
            </a:extLst>
          </p:cNvPr>
          <p:cNvCxnSpPr>
            <a:cxnSpLocks/>
          </p:cNvCxnSpPr>
          <p:nvPr/>
        </p:nvCxnSpPr>
        <p:spPr>
          <a:xfrm rot="10800000">
            <a:off x="16757650" y="5368925"/>
            <a:ext cx="977856" cy="97262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2ED0B509-3A27-E89B-E4C3-61E82C15103C}"/>
              </a:ext>
            </a:extLst>
          </p:cNvPr>
          <p:cNvCxnSpPr>
            <a:cxnSpLocks/>
            <a:stCxn id="136" idx="2"/>
            <a:endCxn id="162" idx="0"/>
          </p:cNvCxnSpPr>
          <p:nvPr/>
        </p:nvCxnSpPr>
        <p:spPr>
          <a:xfrm flipH="1">
            <a:off x="18723737" y="5785545"/>
            <a:ext cx="4278" cy="345380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ctangle 174">
            <a:extLst>
              <a:ext uri="{FF2B5EF4-FFF2-40B4-BE49-F238E27FC236}">
                <a16:creationId xmlns:a16="http://schemas.microsoft.com/office/drawing/2014/main" id="{04F0B597-5E2C-0A80-6714-3F87C60D851B}"/>
              </a:ext>
            </a:extLst>
          </p:cNvPr>
          <p:cNvSpPr/>
          <p:nvPr/>
        </p:nvSpPr>
        <p:spPr>
          <a:xfrm flipH="1">
            <a:off x="11533775" y="1022892"/>
            <a:ext cx="2075836" cy="1077218"/>
          </a:xfrm>
          <a:prstGeom prst="rect">
            <a:avLst/>
          </a:prstGeom>
          <a:solidFill>
            <a:schemeClr val="accent3"/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All the data from CRM will be sent to ERP upon all confirmed checkpoints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87A07CC-2A5E-B585-85A2-804A83FD8D8F}"/>
              </a:ext>
            </a:extLst>
          </p:cNvPr>
          <p:cNvSpPr txBox="1"/>
          <p:nvPr/>
        </p:nvSpPr>
        <p:spPr>
          <a:xfrm>
            <a:off x="17640138" y="7697371"/>
            <a:ext cx="2310006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600" b="1" dirty="0"/>
              <a:t>2. Zoom / Meet / Teams</a:t>
            </a: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68C1790F-A079-6FEF-FD44-C737BF686916}"/>
              </a:ext>
            </a:extLst>
          </p:cNvPr>
          <p:cNvCxnSpPr>
            <a:cxnSpLocks/>
            <a:stCxn id="114" idx="2"/>
            <a:endCxn id="132" idx="0"/>
          </p:cNvCxnSpPr>
          <p:nvPr/>
        </p:nvCxnSpPr>
        <p:spPr>
          <a:xfrm>
            <a:off x="18728015" y="2539804"/>
            <a:ext cx="1316" cy="301529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9825972-26E2-F34B-0DD1-9EA14D668289}"/>
              </a:ext>
            </a:extLst>
          </p:cNvPr>
          <p:cNvSpPr txBox="1"/>
          <p:nvPr/>
        </p:nvSpPr>
        <p:spPr>
          <a:xfrm>
            <a:off x="9226412" y="7569027"/>
            <a:ext cx="1130438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1600" b="1" dirty="0"/>
              <a:t>Social CRM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1D2C9BF-45ED-6CA9-93D9-7DB63BD03C78}"/>
              </a:ext>
            </a:extLst>
          </p:cNvPr>
          <p:cNvSpPr txBox="1"/>
          <p:nvPr/>
        </p:nvSpPr>
        <p:spPr>
          <a:xfrm>
            <a:off x="8627736" y="5731359"/>
            <a:ext cx="2539314" cy="802958"/>
          </a:xfrm>
          <a:prstGeom prst="snip2Same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Candidate receives Offer Letter communication with payment acknowledgement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1D2C9BF-45ED-6CA9-93D9-7DB63BD03C78}"/>
              </a:ext>
            </a:extLst>
          </p:cNvPr>
          <p:cNvSpPr txBox="1"/>
          <p:nvPr/>
        </p:nvSpPr>
        <p:spPr>
          <a:xfrm>
            <a:off x="6683573" y="1965394"/>
            <a:ext cx="1871204" cy="1037153"/>
          </a:xfrm>
          <a:prstGeom prst="snip2Same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Prospect receives Application Form link with fee requirement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7607003" y="2988152"/>
            <a:ext cx="6647" cy="202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35" idx="2"/>
            <a:endCxn id="81" idx="3"/>
          </p:cNvCxnSpPr>
          <p:nvPr/>
        </p:nvCxnSpPr>
        <p:spPr>
          <a:xfrm flipH="1">
            <a:off x="9897393" y="5465410"/>
            <a:ext cx="1214" cy="2659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/>
          <p:nvPr/>
        </p:nvCxnSpPr>
        <p:spPr>
          <a:xfrm rot="16200000" flipH="1">
            <a:off x="9749392" y="1264182"/>
            <a:ext cx="1021948" cy="597191"/>
          </a:xfrm>
          <a:prstGeom prst="bentConnector3">
            <a:avLst>
              <a:gd name="adj1" fmla="val 3289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ounded Rectangle 160">
            <a:extLst>
              <a:ext uri="{FF2B5EF4-FFF2-40B4-BE49-F238E27FC236}">
                <a16:creationId xmlns:a16="http://schemas.microsoft.com/office/drawing/2014/main" id="{AB3472D3-AE79-6389-2ABB-C821ECDB6260}"/>
              </a:ext>
            </a:extLst>
          </p:cNvPr>
          <p:cNvSpPr/>
          <p:nvPr/>
        </p:nvSpPr>
        <p:spPr>
          <a:xfrm flipH="1">
            <a:off x="7092532" y="994444"/>
            <a:ext cx="2883318" cy="850708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SzPct val="90000"/>
            </a:pPr>
            <a:r>
              <a:rPr lang="en-GB" sz="1400" b="1" dirty="0">
                <a:solidFill>
                  <a:schemeClr val="tx1"/>
                </a:solidFill>
              </a:rPr>
              <a:t>Mandatory Background Validations  </a:t>
            </a:r>
          </a:p>
          <a:p>
            <a:pPr marL="342900" indent="-342900" algn="ctr">
              <a:buSzPct val="90000"/>
              <a:buFont typeface="+mj-lt"/>
              <a:buAutoNum type="arabicPeriod"/>
            </a:pPr>
            <a:r>
              <a:rPr lang="en-GB" sz="1400" b="1" dirty="0">
                <a:solidFill>
                  <a:schemeClr val="tx1"/>
                </a:solidFill>
              </a:rPr>
              <a:t>ABC ID</a:t>
            </a:r>
          </a:p>
          <a:p>
            <a:pPr marL="342900" indent="-342900" algn="ctr">
              <a:buSzPct val="90000"/>
              <a:buFont typeface="+mj-lt"/>
              <a:buAutoNum type="arabicPeriod"/>
            </a:pPr>
            <a:r>
              <a:rPr lang="en-GB" sz="1400" b="1" dirty="0">
                <a:solidFill>
                  <a:schemeClr val="tx1"/>
                </a:solidFill>
              </a:rPr>
              <a:t>DEB ID</a:t>
            </a:r>
          </a:p>
          <a:p>
            <a:pPr marL="342900" indent="-342900" algn="ctr">
              <a:buSzPct val="90000"/>
              <a:buFont typeface="+mj-lt"/>
              <a:buAutoNum type="arabicPeriod"/>
            </a:pPr>
            <a:r>
              <a:rPr lang="en-GB" sz="1400" b="1" dirty="0">
                <a:solidFill>
                  <a:schemeClr val="tx1"/>
                </a:solidFill>
              </a:rPr>
              <a:t>Aadhar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D0527B9-65E4-746C-A574-67561369EC7E}"/>
              </a:ext>
            </a:extLst>
          </p:cNvPr>
          <p:cNvSpPr txBox="1"/>
          <p:nvPr/>
        </p:nvSpPr>
        <p:spPr>
          <a:xfrm>
            <a:off x="11423650" y="6081797"/>
            <a:ext cx="2928005" cy="340519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 Collect the required valid documents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6D0527B9-65E4-746C-A574-67561369EC7E}"/>
              </a:ext>
            </a:extLst>
          </p:cNvPr>
          <p:cNvSpPr txBox="1"/>
          <p:nvPr/>
        </p:nvSpPr>
        <p:spPr>
          <a:xfrm>
            <a:off x="14180780" y="2835752"/>
            <a:ext cx="2805470" cy="802958"/>
          </a:xfrm>
          <a:prstGeom prst="snip2Same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b="1" dirty="0"/>
              <a:t> Upon checks done by AO, Provisional Admission Letter to be auto triggered</a:t>
            </a:r>
          </a:p>
        </p:txBody>
      </p:sp>
      <p:cxnSp>
        <p:nvCxnSpPr>
          <p:cNvPr id="137" name="Straight Connector 136"/>
          <p:cNvCxnSpPr>
            <a:stCxn id="25" idx="3"/>
            <a:endCxn id="57" idx="1"/>
          </p:cNvCxnSpPr>
          <p:nvPr/>
        </p:nvCxnSpPr>
        <p:spPr>
          <a:xfrm>
            <a:off x="6528797" y="3444613"/>
            <a:ext cx="129153" cy="743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9" name="Elbow Connector 168"/>
          <p:cNvCxnSpPr/>
          <p:nvPr/>
        </p:nvCxnSpPr>
        <p:spPr>
          <a:xfrm>
            <a:off x="8024577" y="4572468"/>
            <a:ext cx="734726" cy="640942"/>
          </a:xfrm>
          <a:prstGeom prst="bentConnector3">
            <a:avLst>
              <a:gd name="adj1" fmla="val 3699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Snip Same Side Corner Rectangle 175">
            <a:extLst>
              <a:ext uri="{FF2B5EF4-FFF2-40B4-BE49-F238E27FC236}">
                <a16:creationId xmlns:a16="http://schemas.microsoft.com/office/drawing/2014/main" id="{F7756B38-E4DA-12F7-1A61-088252F961CE}"/>
              </a:ext>
            </a:extLst>
          </p:cNvPr>
          <p:cNvSpPr/>
          <p:nvPr/>
        </p:nvSpPr>
        <p:spPr>
          <a:xfrm flipH="1">
            <a:off x="5954250" y="3826352"/>
            <a:ext cx="2592390" cy="969472"/>
          </a:xfrm>
          <a:prstGeom prst="snip2Same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SzPct val="90000"/>
            </a:pPr>
            <a:r>
              <a:rPr lang="en-GB" sz="1400" b="1" dirty="0">
                <a:solidFill>
                  <a:schemeClr val="tx1"/>
                </a:solidFill>
              </a:rPr>
              <a:t>Communication On Attractive scholarships and EMI/ Payment's mode available</a:t>
            </a:r>
          </a:p>
        </p:txBody>
      </p:sp>
      <p:cxnSp>
        <p:nvCxnSpPr>
          <p:cNvPr id="174" name="Straight Connector 173"/>
          <p:cNvCxnSpPr>
            <a:stCxn id="176" idx="2"/>
          </p:cNvCxnSpPr>
          <p:nvPr/>
        </p:nvCxnSpPr>
        <p:spPr>
          <a:xfrm flipV="1">
            <a:off x="8546640" y="4290469"/>
            <a:ext cx="197025" cy="206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/>
          <p:nvPr/>
        </p:nvCxnSpPr>
        <p:spPr>
          <a:xfrm flipV="1">
            <a:off x="8417443" y="3577013"/>
            <a:ext cx="548393" cy="2919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6A671A9-0D59-672B-8852-8017A9F86D68}"/>
              </a:ext>
            </a:extLst>
          </p:cNvPr>
          <p:cNvSpPr txBox="1"/>
          <p:nvPr/>
        </p:nvSpPr>
        <p:spPr>
          <a:xfrm>
            <a:off x="8759303" y="3091071"/>
            <a:ext cx="2284671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Student uploads the required documents</a:t>
            </a:r>
          </a:p>
        </p:txBody>
      </p:sp>
      <p:cxnSp>
        <p:nvCxnSpPr>
          <p:cNvPr id="196" name="Straight Arrow Connector 195"/>
          <p:cNvCxnSpPr>
            <a:stCxn id="175" idx="2"/>
            <a:endCxn id="88" idx="0"/>
          </p:cNvCxnSpPr>
          <p:nvPr/>
        </p:nvCxnSpPr>
        <p:spPr>
          <a:xfrm>
            <a:off x="12571693" y="2100110"/>
            <a:ext cx="6258" cy="2393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Rectangle 216"/>
          <p:cNvSpPr/>
          <p:nvPr/>
        </p:nvSpPr>
        <p:spPr>
          <a:xfrm>
            <a:off x="14090650" y="968947"/>
            <a:ext cx="2968328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tx1"/>
                </a:solidFill>
              </a:rPr>
              <a:t>Final Doc validation to be done by AO for Admission confirmation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9AD4CB9-63CA-3D49-736A-F15550F2FD2C}"/>
              </a:ext>
            </a:extLst>
          </p:cNvPr>
          <p:cNvCxnSpPr>
            <a:cxnSpLocks/>
          </p:cNvCxnSpPr>
          <p:nvPr/>
        </p:nvCxnSpPr>
        <p:spPr>
          <a:xfrm>
            <a:off x="12577951" y="3919187"/>
            <a:ext cx="0" cy="3196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5824170-6BB3-1385-5833-17621FC5A07E}"/>
              </a:ext>
            </a:extLst>
          </p:cNvPr>
          <p:cNvSpPr txBox="1"/>
          <p:nvPr/>
        </p:nvSpPr>
        <p:spPr>
          <a:xfrm>
            <a:off x="13474129" y="3153641"/>
            <a:ext cx="616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YES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CE9865-CAEA-A602-A33C-7D8F5CDDCEF3}"/>
              </a:ext>
            </a:extLst>
          </p:cNvPr>
          <p:cNvSpPr txBox="1"/>
          <p:nvPr/>
        </p:nvSpPr>
        <p:spPr>
          <a:xfrm>
            <a:off x="12102529" y="3841216"/>
            <a:ext cx="616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NO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350299E9-8756-FEA8-2621-B0D7EC5A7B40}"/>
              </a:ext>
            </a:extLst>
          </p:cNvPr>
          <p:cNvCxnSpPr>
            <a:stCxn id="96" idx="0"/>
          </p:cNvCxnSpPr>
          <p:nvPr/>
        </p:nvCxnSpPr>
        <p:spPr>
          <a:xfrm flipV="1">
            <a:off x="17084270" y="2119672"/>
            <a:ext cx="682378" cy="97236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997460DB-1EE8-3C07-B13D-46682540B119}"/>
              </a:ext>
            </a:extLst>
          </p:cNvPr>
          <p:cNvCxnSpPr>
            <a:cxnSpLocks/>
            <a:endCxn id="132" idx="1"/>
          </p:cNvCxnSpPr>
          <p:nvPr/>
        </p:nvCxnSpPr>
        <p:spPr>
          <a:xfrm flipV="1">
            <a:off x="16521066" y="2995222"/>
            <a:ext cx="1246898" cy="90733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5651C2E-5C66-3D96-5B49-771194488C2B}"/>
              </a:ext>
            </a:extLst>
          </p:cNvPr>
          <p:cNvSpPr txBox="1"/>
          <p:nvPr/>
        </p:nvSpPr>
        <p:spPr>
          <a:xfrm>
            <a:off x="17745580" y="956707"/>
            <a:ext cx="2204563" cy="602218"/>
          </a:xfrm>
          <a:prstGeom prst="snip2Same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500" b="1"/>
            </a:lvl1pPr>
          </a:lstStyle>
          <a:p>
            <a:r>
              <a:rPr lang="en-GB" dirty="0"/>
              <a:t>Trigger a confirmation/ cancellation to student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E126D5B4-1C32-4C20-FBD7-869A5976B7AF}"/>
              </a:ext>
            </a:extLst>
          </p:cNvPr>
          <p:cNvCxnSpPr>
            <a:cxnSpLocks/>
            <a:stCxn id="217" idx="3"/>
            <a:endCxn id="72" idx="2"/>
          </p:cNvCxnSpPr>
          <p:nvPr/>
        </p:nvCxnSpPr>
        <p:spPr>
          <a:xfrm flipV="1">
            <a:off x="17058978" y="1257816"/>
            <a:ext cx="686602" cy="3519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C784490-8C0A-1AC6-6D55-EC91821DDB45}"/>
              </a:ext>
            </a:extLst>
          </p:cNvPr>
          <p:cNvCxnSpPr/>
          <p:nvPr/>
        </p:nvCxnSpPr>
        <p:spPr>
          <a:xfrm>
            <a:off x="12795250" y="5216843"/>
            <a:ext cx="6258" cy="2393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C2B7740-83C4-B07D-BBEE-89D77B153F80}"/>
              </a:ext>
            </a:extLst>
          </p:cNvPr>
          <p:cNvCxnSpPr/>
          <p:nvPr/>
        </p:nvCxnSpPr>
        <p:spPr>
          <a:xfrm>
            <a:off x="12795250" y="5825005"/>
            <a:ext cx="6258" cy="2393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B87A10EF-99E6-45D3-33B9-3290926C0EDF}"/>
              </a:ext>
            </a:extLst>
          </p:cNvPr>
          <p:cNvCxnSpPr>
            <a:stCxn id="88" idx="3"/>
          </p:cNvCxnSpPr>
          <p:nvPr/>
        </p:nvCxnSpPr>
        <p:spPr>
          <a:xfrm>
            <a:off x="13557250" y="3123121"/>
            <a:ext cx="609600" cy="174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138316E7-57EA-DBE1-2FEF-8909D0E69B26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05472" y="4350266"/>
            <a:ext cx="2149848" cy="702566"/>
          </a:xfrm>
          <a:prstGeom prst="bentConnector3">
            <a:avLst>
              <a:gd name="adj1" fmla="val 35822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Decision 87">
            <a:extLst>
              <a:ext uri="{FF2B5EF4-FFF2-40B4-BE49-F238E27FC236}">
                <a16:creationId xmlns:a16="http://schemas.microsoft.com/office/drawing/2014/main" id="{D1FC36C0-EA46-C248-3643-19530BB31041}"/>
              </a:ext>
            </a:extLst>
          </p:cNvPr>
          <p:cNvSpPr/>
          <p:nvPr/>
        </p:nvSpPr>
        <p:spPr>
          <a:xfrm>
            <a:off x="14444133" y="5426552"/>
            <a:ext cx="1830256" cy="962539"/>
          </a:xfrm>
          <a:prstGeom prst="flowChartDecisio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All received</a:t>
            </a:r>
          </a:p>
        </p:txBody>
      </p: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744FC756-E4A7-C122-715C-50D2A7452F46}"/>
              </a:ext>
            </a:extLst>
          </p:cNvPr>
          <p:cNvCxnSpPr>
            <a:stCxn id="134" idx="2"/>
            <a:endCxn id="98" idx="2"/>
          </p:cNvCxnSpPr>
          <p:nvPr/>
        </p:nvCxnSpPr>
        <p:spPr>
          <a:xfrm rot="5400000" flipH="1" flipV="1">
            <a:off x="14106844" y="5169900"/>
            <a:ext cx="33225" cy="2471608"/>
          </a:xfrm>
          <a:prstGeom prst="bentConnector3">
            <a:avLst>
              <a:gd name="adj1" fmla="val -68803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79469922-443A-38A9-73B4-C7D36458EE0B}"/>
              </a:ext>
            </a:extLst>
          </p:cNvPr>
          <p:cNvSpPr txBox="1"/>
          <p:nvPr/>
        </p:nvSpPr>
        <p:spPr>
          <a:xfrm>
            <a:off x="14700250" y="4664552"/>
            <a:ext cx="616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YES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DCBF11F-89F6-46E6-9DC2-27EEAE1E7B1E}"/>
              </a:ext>
            </a:extLst>
          </p:cNvPr>
          <p:cNvSpPr txBox="1"/>
          <p:nvPr/>
        </p:nvSpPr>
        <p:spPr>
          <a:xfrm>
            <a:off x="14395450" y="5209620"/>
            <a:ext cx="616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NO</a:t>
            </a:r>
          </a:p>
        </p:txBody>
      </p:sp>
      <p:cxnSp>
        <p:nvCxnSpPr>
          <p:cNvPr id="121" name="Elbow Connector 156">
            <a:extLst>
              <a:ext uri="{FF2B5EF4-FFF2-40B4-BE49-F238E27FC236}">
                <a16:creationId xmlns:a16="http://schemas.microsoft.com/office/drawing/2014/main" id="{4BDBBFAF-05D5-175A-48F5-1BEF64370BB4}"/>
              </a:ext>
            </a:extLst>
          </p:cNvPr>
          <p:cNvCxnSpPr>
            <a:cxnSpLocks/>
          </p:cNvCxnSpPr>
          <p:nvPr/>
        </p:nvCxnSpPr>
        <p:spPr>
          <a:xfrm rot="16200000" flipV="1">
            <a:off x="12527234" y="3998199"/>
            <a:ext cx="2078884" cy="1761910"/>
          </a:xfrm>
          <a:prstGeom prst="bentConnector3">
            <a:avLst>
              <a:gd name="adj1" fmla="val 89098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9241FCC6-0474-A34B-2E3E-4AB810BD559B}"/>
              </a:ext>
            </a:extLst>
          </p:cNvPr>
          <p:cNvSpPr txBox="1"/>
          <p:nvPr/>
        </p:nvSpPr>
        <p:spPr>
          <a:xfrm>
            <a:off x="15538450" y="6511925"/>
            <a:ext cx="1768634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b="1" dirty="0"/>
              <a:t>Cancel admission – refund if no response</a:t>
            </a:r>
          </a:p>
        </p:txBody>
      </p:sp>
      <p:cxnSp>
        <p:nvCxnSpPr>
          <p:cNvPr id="147" name="Connector: Elbow 146">
            <a:extLst>
              <a:ext uri="{FF2B5EF4-FFF2-40B4-BE49-F238E27FC236}">
                <a16:creationId xmlns:a16="http://schemas.microsoft.com/office/drawing/2014/main" id="{D5D26ECC-5C8C-900B-C0F2-154BA6A9EA16}"/>
              </a:ext>
            </a:extLst>
          </p:cNvPr>
          <p:cNvCxnSpPr>
            <a:cxnSpLocks/>
          </p:cNvCxnSpPr>
          <p:nvPr/>
        </p:nvCxnSpPr>
        <p:spPr>
          <a:xfrm>
            <a:off x="16267075" y="5928088"/>
            <a:ext cx="148378" cy="604103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41EB782E-55CE-3763-104A-09C61CF98603}"/>
              </a:ext>
            </a:extLst>
          </p:cNvPr>
          <p:cNvCxnSpPr>
            <a:stCxn id="96" idx="3"/>
            <a:endCxn id="217" idx="2"/>
          </p:cNvCxnSpPr>
          <p:nvPr/>
        </p:nvCxnSpPr>
        <p:spPr>
          <a:xfrm flipH="1" flipV="1">
            <a:off x="15574814" y="1553722"/>
            <a:ext cx="12646" cy="3620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F1EAF27F-37A5-9880-0D79-B9A05EDA0351}"/>
              </a:ext>
            </a:extLst>
          </p:cNvPr>
          <p:cNvCxnSpPr>
            <a:stCxn id="152" idx="3"/>
            <a:endCxn id="96" idx="1"/>
          </p:cNvCxnSpPr>
          <p:nvPr/>
        </p:nvCxnSpPr>
        <p:spPr>
          <a:xfrm flipV="1">
            <a:off x="15583515" y="2518017"/>
            <a:ext cx="3945" cy="31773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Decision 87">
            <a:extLst>
              <a:ext uri="{FF2B5EF4-FFF2-40B4-BE49-F238E27FC236}">
                <a16:creationId xmlns:a16="http://schemas.microsoft.com/office/drawing/2014/main" id="{A6F6FA97-3F3A-9A56-0074-E00B7FB332B6}"/>
              </a:ext>
            </a:extLst>
          </p:cNvPr>
          <p:cNvSpPr/>
          <p:nvPr/>
        </p:nvSpPr>
        <p:spPr>
          <a:xfrm>
            <a:off x="11598652" y="2339449"/>
            <a:ext cx="1958598" cy="1567343"/>
          </a:xfrm>
          <a:prstGeom prst="flowChartDecisio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b="1" dirty="0"/>
              <a:t>Docs Accepted by AO?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89590" y="8001455"/>
            <a:ext cx="11077460" cy="26307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PRE-ADMISSION PROCESS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11375451" y="8009514"/>
            <a:ext cx="8728649" cy="25501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ADMISSION &amp; POST-ADMISSION PROCESS 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03E74D3-CE72-BBC7-A61B-A3EEE35C7A38}"/>
              </a:ext>
            </a:extLst>
          </p:cNvPr>
          <p:cNvSpPr txBox="1"/>
          <p:nvPr/>
        </p:nvSpPr>
        <p:spPr>
          <a:xfrm>
            <a:off x="17595850" y="7426325"/>
            <a:ext cx="2346733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1600" b="1" dirty="0"/>
              <a:t>1. Online proctored exam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12256</TotalTime>
  <Words>410</Words>
  <Application>Microsoft Office PowerPoint</Application>
  <PresentationFormat>Custom</PresentationFormat>
  <Paragraphs>77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Alkendra Singh</dc:creator>
  <cp:lastModifiedBy>SP Kar</cp:lastModifiedBy>
  <cp:revision>73</cp:revision>
  <cp:lastPrinted>2024-11-08T05:53:27Z</cp:lastPrinted>
  <dcterms:created xsi:type="dcterms:W3CDTF">2024-07-26T10:13:34Z</dcterms:created>
  <dcterms:modified xsi:type="dcterms:W3CDTF">2026-09-01T10:41:08Z</dcterms:modified>
</cp:coreProperties>
</file>